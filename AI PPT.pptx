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50" r:id="rId2"/>
  </p:sldMasterIdLst>
  <p:notesMasterIdLst>
    <p:notesMasterId r:id="rId15"/>
  </p:notesMasterIdLst>
  <p:handoutMasterIdLst>
    <p:handoutMasterId r:id="rId16"/>
  </p:handoutMasterIdLst>
  <p:sldIdLst>
    <p:sldId id="609" r:id="rId3"/>
    <p:sldId id="651" r:id="rId4"/>
    <p:sldId id="652" r:id="rId5"/>
    <p:sldId id="649" r:id="rId6"/>
    <p:sldId id="648" r:id="rId7"/>
    <p:sldId id="608" r:id="rId8"/>
    <p:sldId id="655" r:id="rId9"/>
    <p:sldId id="279" r:id="rId10"/>
    <p:sldId id="630" r:id="rId11"/>
    <p:sldId id="645" r:id="rId12"/>
    <p:sldId id="631" r:id="rId13"/>
    <p:sldId id="654" r:id="rId14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33CC"/>
    <a:srgbClr val="009900"/>
    <a:srgbClr val="FF00FF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34" autoAdjust="0"/>
    <p:restoredTop sz="94660"/>
  </p:normalViewPr>
  <p:slideViewPr>
    <p:cSldViewPr>
      <p:cViewPr varScale="1">
        <p:scale>
          <a:sx n="78" d="100"/>
          <a:sy n="78" d="100"/>
        </p:scale>
        <p:origin x="893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D5811-6EAB-4FAF-A7A0-09C4E0A915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40751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2C7E49-91C6-45D1-B40D-C4123433B2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0191853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E2C7E49-91C6-45D1-B40D-C4123433B2A2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100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716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4A864C78-8877-499B-A782-939186871838}" type="datetime1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0A5D46C-B78A-459B-99A6-561CF3C40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4224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F2E47A1-CACB-4C0F-9D48-5BF6511D7292}" type="datetime1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0A5D46C-B78A-459B-99A6-561CF3C40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6863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1772C2EA-5574-4BC3-B49C-56035920FC9F}" type="datetime1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0A5D46C-B78A-459B-99A6-561CF3C40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620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8BD0114-714E-49BD-BE73-FF9299EEDAE1}" type="datetime1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032438" y="6356351"/>
            <a:ext cx="2127124" cy="365125"/>
          </a:xfrm>
          <a:prstGeom prst="rect">
            <a:avLst/>
          </a:prstGeom>
        </p:spPr>
        <p:txBody>
          <a:bodyPr/>
          <a:lstStyle/>
          <a:p>
            <a:r>
              <a:rPr lang="en-IN" dirty="0"/>
              <a:t>Dept. of CSE(AI&amp;ML)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64552" y="6356351"/>
            <a:ext cx="517848" cy="365125"/>
          </a:xfrm>
          <a:prstGeom prst="rect">
            <a:avLst/>
          </a:prstGeom>
        </p:spPr>
        <p:txBody>
          <a:bodyPr/>
          <a:lstStyle/>
          <a:p>
            <a:fld id="{80A5D46C-B78A-459B-99A6-561CF3C40EE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853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E86FEAE0-6ACE-441E-BA9F-2EC9406EBE87}" type="datetime1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0A5D46C-B78A-459B-99A6-561CF3C40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065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281090F-8CED-4F09-8D5D-587700147CA1}" type="datetime1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0A5D46C-B78A-459B-99A6-561CF3C40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735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904D54F6-FDF3-4398-BB19-27F56DA7B90F}" type="datetime1">
              <a:rPr lang="en-IN" smtClean="0"/>
              <a:t>02-05-2026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0A5D46C-B78A-459B-99A6-561CF3C40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0704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3E78B907-8442-4F13-944A-148C605D1BAD}" type="datetime1">
              <a:rPr lang="en-IN" smtClean="0"/>
              <a:t>02-05-2026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0A5D46C-B78A-459B-99A6-561CF3C40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121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87DC1C0-ACB5-48FD-9DC8-76FAF85C23AC}" type="datetime1">
              <a:rPr lang="en-IN" smtClean="0"/>
              <a:t>02-05-2026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0A5D46C-B78A-459B-99A6-561CF3C40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9416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639A313-1A41-45AA-8061-868B3A280CE5}" type="datetime1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0A5D46C-B78A-459B-99A6-561CF3C40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77054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79DF830-9853-4492-94B0-3F67960E5292}" type="datetime1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0A5D46C-B78A-459B-99A6-561CF3C40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58866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46CCBFDE-FA9A-44D8-814D-51E96060A9AB}" type="datetime1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0A5D46C-B78A-459B-99A6-561CF3C40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3664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E6977D18-36C1-4475-9224-D85A46041D7B}" type="datetime1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0A5D46C-B78A-459B-99A6-561CF3C40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6567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36675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4220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4072210"/>
            <a:ext cx="12192000" cy="25251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419100" dist="38100" dir="16200000" sx="106000" sy="106000" rotWithShape="0">
              <a:schemeClr val="tx2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b="1" dirty="0">
              <a:ln>
                <a:solidFill>
                  <a:schemeClr val="tx2">
                    <a:lumMod val="75000"/>
                  </a:scheme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619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-27384"/>
            <a:ext cx="12192000" cy="576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50800" dir="960000" sx="1000" sy="1000" algn="t" rotWithShape="0">
              <a:schemeClr val="tx2">
                <a:lumMod val="60000"/>
                <a:lumOff val="40000"/>
              </a:schemeClr>
            </a:outerShdw>
            <a:reflection stA="57000" endPos="44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b="1" dirty="0">
              <a:ln>
                <a:solidFill>
                  <a:schemeClr val="tx2">
                    <a:lumMod val="75000"/>
                  </a:scheme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18718A-351F-4222-A932-3F886388805B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0983" y="-27591"/>
            <a:ext cx="1791492" cy="57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698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5" r:id="rId12"/>
    <p:sldLayoutId id="2147483666" r:id="rId13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Uniform-cost_search" TargetMode="External"/><Relationship Id="rId2" Type="http://schemas.openxmlformats.org/officeDocument/2006/relationships/hyperlink" Target="https://www.geeksforgeeks.org/a-search-algorithm/" TargetMode="Externa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EEF80B18-7A41-4E34-86B9-81C04E8296B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2" t="23554" b="23554"/>
          <a:stretch/>
        </p:blipFill>
        <p:spPr>
          <a:xfrm>
            <a:off x="88560" y="25429"/>
            <a:ext cx="4035237" cy="1124743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4EA65D3-2E74-474F-8D23-6A28E381C071}"/>
              </a:ext>
            </a:extLst>
          </p:cNvPr>
          <p:cNvSpPr txBox="1">
            <a:spLocks/>
          </p:cNvSpPr>
          <p:nvPr/>
        </p:nvSpPr>
        <p:spPr>
          <a:xfrm>
            <a:off x="88560" y="4725144"/>
            <a:ext cx="11840088" cy="1656184"/>
          </a:xfrm>
          <a:prstGeom prst="rect">
            <a:avLst/>
          </a:prstGeom>
          <a:gradFill>
            <a:gsLst>
              <a:gs pos="15000">
                <a:schemeClr val="bg1"/>
              </a:gs>
              <a:gs pos="0">
                <a:srgbClr val="99CCFF"/>
              </a:gs>
              <a:gs pos="85000">
                <a:schemeClr val="bg1"/>
              </a:gs>
              <a:gs pos="100000">
                <a:srgbClr val="99CCFF"/>
              </a:gs>
            </a:gsLst>
            <a:lin ang="5400000" scaled="0"/>
          </a:gradFill>
        </p:spPr>
        <p:txBody>
          <a:bodyPr>
            <a:normAutofit fontScale="4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IN" sz="2800" b="1" spc="5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Arial" pitchFamily="34" charset="0"/>
            </a:endParaRPr>
          </a:p>
          <a:p>
            <a:pPr marL="0" indent="0" algn="ctr">
              <a:buNone/>
            </a:pPr>
            <a:r>
              <a:rPr lang="en-IN" sz="3600" b="1" spc="5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Arial" pitchFamily="34" charset="0"/>
              </a:rPr>
              <a:t>SMART ORGAN DONOR-RECIPIENT MATCHING</a:t>
            </a:r>
          </a:p>
          <a:p>
            <a:pPr marL="0" indent="0" algn="ctr">
              <a:buNone/>
            </a:pPr>
            <a:r>
              <a:rPr lang="en-IN" sz="3600" b="1" spc="5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Arial" pitchFamily="34" charset="0"/>
              </a:rPr>
              <a:t> USING A* SEARCH</a:t>
            </a:r>
          </a:p>
          <a:p>
            <a:pPr marL="0" indent="0" algn="r">
              <a:buNone/>
            </a:pPr>
            <a:r>
              <a:rPr lang="en-IN" sz="2000" b="1" spc="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Arial" pitchFamily="34" charset="0"/>
              </a:rPr>
              <a:t>R VIDYA SHREE: ENG24AM0069</a:t>
            </a:r>
          </a:p>
          <a:p>
            <a:pPr marL="0" indent="0" algn="r">
              <a:buNone/>
            </a:pPr>
            <a:r>
              <a:rPr lang="en-IN" sz="2000" b="1" spc="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Arial" pitchFamily="34" charset="0"/>
              </a:rPr>
              <a:t>VOOKA SRAVANI: ENG24AM0317</a:t>
            </a:r>
          </a:p>
          <a:p>
            <a:pPr marL="0" indent="0" algn="r">
              <a:buNone/>
            </a:pPr>
            <a:r>
              <a:rPr lang="en-IN" sz="2000" b="1" spc="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Arial" pitchFamily="34" charset="0"/>
              </a:rPr>
              <a:t>VAISHNAVI: ENG24AM0109</a:t>
            </a:r>
          </a:p>
          <a:p>
            <a:pPr marL="0" indent="0" algn="r">
              <a:buNone/>
            </a:pPr>
            <a:r>
              <a:rPr lang="en-IN" sz="2000" b="1" spc="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Arial" pitchFamily="34" charset="0"/>
              </a:rPr>
              <a:t>POLIREDDY THRISHA REDDY: ENG24AM0246</a:t>
            </a:r>
          </a:p>
          <a:p>
            <a:pPr marL="0" indent="0" algn="r">
              <a:buNone/>
            </a:pPr>
            <a:r>
              <a:rPr lang="en-IN" sz="1800" b="1" spc="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Arial" pitchFamily="34" charset="0"/>
              </a:rPr>
              <a:t>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F39D84-82AB-44D7-AFE1-D4C02EEC1B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5712" y="25429"/>
            <a:ext cx="3496952" cy="1124743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528DD08-4BB3-4B8E-B5FC-DA1CD8513BAC}"/>
              </a:ext>
            </a:extLst>
          </p:cNvPr>
          <p:cNvGrpSpPr/>
          <p:nvPr/>
        </p:nvGrpSpPr>
        <p:grpSpPr>
          <a:xfrm>
            <a:off x="480644" y="1268760"/>
            <a:ext cx="11230712" cy="2467131"/>
            <a:chOff x="-100" y="1643049"/>
            <a:chExt cx="12193666" cy="302937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E2BDAB8-6DB8-45B3-A35E-F37327F796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303"/>
            <a:stretch/>
          </p:blipFill>
          <p:spPr>
            <a:xfrm>
              <a:off x="6711396" y="1645797"/>
              <a:ext cx="5482170" cy="3022607"/>
            </a:xfrm>
            <a:prstGeom prst="rect">
              <a:avLst/>
            </a:prstGeom>
          </p:spPr>
        </p:pic>
        <p:pic>
          <p:nvPicPr>
            <p:cNvPr id="5" name="Picture 4" descr="DSU Bangalore: Admission 2023, Courses, Fees, Placement, Cut Off">
              <a:extLst>
                <a:ext uri="{FF2B5EF4-FFF2-40B4-BE49-F238E27FC236}">
                  <a16:creationId xmlns:a16="http://schemas.microsoft.com/office/drawing/2014/main" id="{821ECB36-9387-43AE-8B4F-0C11FBEF1A4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90" t="27242" r="2334"/>
            <a:stretch/>
          </p:blipFill>
          <p:spPr bwMode="auto">
            <a:xfrm>
              <a:off x="-100" y="1643049"/>
              <a:ext cx="6833103" cy="30293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" name="Google Shape;136;p19">
            <a:extLst>
              <a:ext uri="{FF2B5EF4-FFF2-40B4-BE49-F238E27FC236}">
                <a16:creationId xmlns:a16="http://schemas.microsoft.com/office/drawing/2014/main" id="{ECC0ABCB-3CAA-EF44-9672-18032341F2FF}"/>
              </a:ext>
            </a:extLst>
          </p:cNvPr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5551388" y="25429"/>
            <a:ext cx="1089224" cy="105567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021360D-61BB-4D79-01E5-1D4FC57B5E19}"/>
              </a:ext>
            </a:extLst>
          </p:cNvPr>
          <p:cNvSpPr txBox="1">
            <a:spLocks/>
          </p:cNvSpPr>
          <p:nvPr/>
        </p:nvSpPr>
        <p:spPr>
          <a:xfrm>
            <a:off x="335360" y="4149079"/>
            <a:ext cx="11183632" cy="506997"/>
          </a:xfrm>
          <a:prstGeom prst="rect">
            <a:avLst/>
          </a:prstGeom>
          <a:gradFill>
            <a:gsLst>
              <a:gs pos="15000">
                <a:schemeClr val="bg1"/>
              </a:gs>
              <a:gs pos="0">
                <a:srgbClr val="99CCFF"/>
              </a:gs>
              <a:gs pos="85000">
                <a:schemeClr val="bg1"/>
              </a:gs>
              <a:gs pos="100000">
                <a:srgbClr val="99CCFF"/>
              </a:gs>
            </a:gsLst>
            <a:lin ang="5400000" scaled="0"/>
          </a:gradFill>
        </p:spPr>
        <p:txBody>
          <a:bodyPr>
            <a:normAutofit fontScale="2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IN" sz="2800" b="1" spc="5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Arial" pitchFamily="34" charset="0"/>
            </a:endParaRPr>
          </a:p>
          <a:p>
            <a:pPr marL="0" indent="0" algn="ctr">
              <a:buNone/>
            </a:pPr>
            <a:r>
              <a:rPr lang="en-IN" sz="6400" b="1" spc="5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Arial" pitchFamily="34" charset="0"/>
              </a:rPr>
              <a:t>Artificial Intelligence (24AM2405) Mini-Project (</a:t>
            </a:r>
            <a:r>
              <a:rPr lang="en-IN" sz="6400" b="1" spc="5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Arial" pitchFamily="34" charset="0"/>
              </a:rPr>
              <a:t>Section:C</a:t>
            </a:r>
            <a:r>
              <a:rPr lang="en-IN" sz="6400" b="1" spc="5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Arial" pitchFamily="34" charset="0"/>
              </a:rPr>
              <a:t>)</a:t>
            </a:r>
          </a:p>
          <a:p>
            <a:pPr marL="0" indent="0" algn="ctr">
              <a:buNone/>
            </a:pPr>
            <a:endParaRPr lang="en-IN" sz="6400" b="1" spc="5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Arial" pitchFamily="34" charset="0"/>
            </a:endParaRPr>
          </a:p>
          <a:p>
            <a:pPr marL="0" indent="0" algn="r">
              <a:buNone/>
            </a:pPr>
            <a:r>
              <a:rPr lang="en-IN" sz="1800" b="1" spc="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Arial" pitchFamily="34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046763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974EC-14E3-E70D-9F01-5B627514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D0114-714E-49BD-BE73-FF9299EEDAE1}" type="datetime1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748DF-DDFE-C6A9-5919-9A8608278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CSE(AI&amp;ML)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5305D-200E-1287-E391-720DCCE0E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5D46C-B78A-459B-99A6-561CF3C40EE3}" type="slidenum">
              <a:rPr lang="en-IN" smtClean="0"/>
              <a:t>2</a:t>
            </a:fld>
            <a:endParaRPr lang="en-IN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50754BD-4666-2583-C575-FF8F0C31F58E}"/>
              </a:ext>
            </a:extLst>
          </p:cNvPr>
          <p:cNvSpPr txBox="1">
            <a:spLocks/>
          </p:cNvSpPr>
          <p:nvPr/>
        </p:nvSpPr>
        <p:spPr>
          <a:xfrm>
            <a:off x="182252" y="67146"/>
            <a:ext cx="7569932" cy="409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1. Introduction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8CF45C-A516-530C-6723-20C3D55EB3FB}"/>
              </a:ext>
            </a:extLst>
          </p:cNvPr>
          <p:cNvSpPr txBox="1"/>
          <p:nvPr/>
        </p:nvSpPr>
        <p:spPr>
          <a:xfrm>
            <a:off x="406400" y="980728"/>
            <a:ext cx="1037012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Organ transplantation is a </a:t>
            </a:r>
            <a:r>
              <a:rPr lang="en-US" b="1" dirty="0"/>
              <a:t>critical real-world optimization problem</a:t>
            </a:r>
            <a:r>
              <a:rPr lang="en-US" dirty="0"/>
              <a:t> 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Matching involves multiple constraints: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Blood group compatibility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Organ type availability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Patient urgency level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Geographical distance </a:t>
            </a:r>
          </a:p>
          <a:p>
            <a:pPr lvl="1"/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Manual matching is: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Time-consuming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Not always optimal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Difficult to scale </a:t>
            </a:r>
          </a:p>
          <a:p>
            <a:pPr lvl="1"/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This project applies </a:t>
            </a:r>
            <a:r>
              <a:rPr lang="en-US" b="1" dirty="0"/>
              <a:t>Artificial Intelligence search techniques</a:t>
            </a:r>
            <a:r>
              <a:rPr lang="en-US" dirty="0"/>
              <a:t> to: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Automate matching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Improve efficiency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Reduce decision time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104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21854-D15D-603C-CDE7-9E7413AD2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D0114-714E-49BD-BE73-FF9299EEDAE1}" type="datetime1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CE81F-77D4-6C92-35A8-03DC6D0EB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CSE(AI&amp;ML)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2C464-5D84-C5B0-B472-082F1EB82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5D46C-B78A-459B-99A6-561CF3C40EE3}" type="slidenum">
              <a:rPr lang="en-IN" smtClean="0"/>
              <a:t>3</a:t>
            </a:fld>
            <a:endParaRPr lang="en-IN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3B72D6C-6439-9CDB-82AE-C245A89AA944}"/>
              </a:ext>
            </a:extLst>
          </p:cNvPr>
          <p:cNvSpPr txBox="1">
            <a:spLocks/>
          </p:cNvSpPr>
          <p:nvPr/>
        </p:nvSpPr>
        <p:spPr>
          <a:xfrm>
            <a:off x="182252" y="67146"/>
            <a:ext cx="7569932" cy="409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2. Problem Statement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E95FE7-F538-3505-08E9-1FC3DF287603}"/>
              </a:ext>
            </a:extLst>
          </p:cNvPr>
          <p:cNvSpPr txBox="1"/>
          <p:nvPr/>
        </p:nvSpPr>
        <p:spPr>
          <a:xfrm>
            <a:off x="263352" y="764704"/>
            <a:ext cx="10585176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/>
              <a:t>Objective: Identify the BEST DONOR - RECIPIENT match</a:t>
            </a:r>
          </a:p>
          <a:p>
            <a:pPr algn="just"/>
            <a:r>
              <a:rPr lang="en-US" sz="2000" b="1" dirty="0"/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Must satisfy:</a:t>
            </a:r>
          </a:p>
          <a:p>
            <a:pPr algn="just"/>
            <a:r>
              <a:rPr lang="en-US" dirty="0"/>
              <a:t>                a. Medical compatibility constraints </a:t>
            </a:r>
          </a:p>
          <a:p>
            <a:pPr algn="just"/>
            <a:r>
              <a:rPr lang="en-US" dirty="0"/>
              <a:t>                b. Minimum cost conditions </a:t>
            </a:r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Challenges: </a:t>
            </a:r>
          </a:p>
          <a:p>
            <a:pPr algn="just"/>
            <a:r>
              <a:rPr lang="en-US" dirty="0"/>
              <a:t>                a. Large number of possible combinations </a:t>
            </a:r>
          </a:p>
          <a:p>
            <a:pPr algn="just"/>
            <a:r>
              <a:rPr lang="en-US" dirty="0"/>
              <a:t>                b. Risk of </a:t>
            </a:r>
            <a:r>
              <a:rPr lang="en-US" b="1" dirty="0"/>
              <a:t>combinatorial explosion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                c. Need for efficient search strategy </a:t>
            </a:r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Solution Approach:</a:t>
            </a:r>
          </a:p>
          <a:p>
            <a:pPr algn="just"/>
            <a:r>
              <a:rPr lang="en-US" dirty="0"/>
              <a:t>                a. Model as a </a:t>
            </a:r>
            <a:r>
              <a:rPr lang="en-US" b="1" dirty="0"/>
              <a:t>state-space search problem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                b. Use informed and uninformed algorithms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81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80B30-4499-A5B6-B7EF-D0A4757B6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D0114-714E-49BD-BE73-FF9299EEDAE1}" type="datetime1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E4430-AD68-B995-EB97-ECF7A1B67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CSE(AI&amp;ML)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1F56B-5988-944D-D69D-787BB6ABC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5D46C-B78A-459B-99A6-561CF3C40EE3}" type="slidenum">
              <a:rPr lang="en-IN" smtClean="0"/>
              <a:t>4</a:t>
            </a:fld>
            <a:endParaRPr lang="en-IN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B09DF65-5498-F79E-C4A0-9D577450D24F}"/>
              </a:ext>
            </a:extLst>
          </p:cNvPr>
          <p:cNvSpPr txBox="1">
            <a:spLocks/>
          </p:cNvSpPr>
          <p:nvPr/>
        </p:nvSpPr>
        <p:spPr>
          <a:xfrm>
            <a:off x="182252" y="67146"/>
            <a:ext cx="7569932" cy="409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3. Literature Review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048D9A-63C8-77B8-FC46-AC711262A561}"/>
              </a:ext>
            </a:extLst>
          </p:cNvPr>
          <p:cNvSpPr txBox="1"/>
          <p:nvPr/>
        </p:nvSpPr>
        <p:spPr>
          <a:xfrm>
            <a:off x="406400" y="612844"/>
            <a:ext cx="6096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Search algorithms are widely used in: </a:t>
            </a:r>
          </a:p>
          <a:p>
            <a:r>
              <a:rPr lang="en-US" dirty="0"/>
              <a:t>           </a:t>
            </a:r>
            <a:r>
              <a:rPr lang="en-US" dirty="0" err="1"/>
              <a:t>i</a:t>
            </a:r>
            <a:r>
              <a:rPr lang="en-US" dirty="0"/>
              <a:t>. Pathfinding </a:t>
            </a:r>
          </a:p>
          <a:p>
            <a:r>
              <a:rPr lang="en-US" dirty="0"/>
              <a:t>           ii. Resource allocation </a:t>
            </a:r>
          </a:p>
          <a:p>
            <a:r>
              <a:rPr lang="en-US" dirty="0"/>
              <a:t>           iii. Scheduling problems </a:t>
            </a:r>
          </a:p>
          <a:p>
            <a:endParaRPr lang="en-US" dirty="0"/>
          </a:p>
          <a:p>
            <a:r>
              <a:rPr lang="en-US" b="1" dirty="0"/>
              <a:t>1. BFS :</a:t>
            </a:r>
          </a:p>
          <a:p>
            <a:r>
              <a:rPr lang="en-US" dirty="0"/>
              <a:t>            a. Explores all nodes level-wise </a:t>
            </a:r>
          </a:p>
          <a:p>
            <a:r>
              <a:rPr lang="en-US" dirty="0"/>
              <a:t>            b. High time and space complexity </a:t>
            </a:r>
          </a:p>
          <a:p>
            <a:endParaRPr lang="en-US" dirty="0"/>
          </a:p>
          <a:p>
            <a:r>
              <a:rPr lang="en-US" b="1" dirty="0"/>
              <a:t>2. UCS</a:t>
            </a:r>
            <a:r>
              <a:rPr lang="en-US" dirty="0"/>
              <a:t>:</a:t>
            </a:r>
          </a:p>
          <a:p>
            <a:r>
              <a:rPr lang="en-US" dirty="0"/>
              <a:t>            a. Finds optimal solution based on cost </a:t>
            </a:r>
          </a:p>
          <a:p>
            <a:r>
              <a:rPr lang="en-US" dirty="0"/>
              <a:t>            b. Slower due to lack of guidance </a:t>
            </a:r>
          </a:p>
          <a:p>
            <a:endParaRPr lang="en-US" dirty="0"/>
          </a:p>
          <a:p>
            <a:r>
              <a:rPr lang="en-US" b="1" dirty="0"/>
              <a:t>3. A*</a:t>
            </a:r>
            <a:r>
              <a:rPr lang="en-US" dirty="0"/>
              <a:t>: </a:t>
            </a:r>
          </a:p>
          <a:p>
            <a:r>
              <a:rPr lang="en-US" dirty="0"/>
              <a:t>           a. Uses heuristic function </a:t>
            </a:r>
          </a:p>
          <a:p>
            <a:r>
              <a:rPr lang="en-US" dirty="0"/>
              <a:t>           b. Balances optimality and efficiency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Limitation in existing approaches:</a:t>
            </a:r>
          </a:p>
          <a:p>
            <a:r>
              <a:rPr lang="en-US" dirty="0"/>
              <a:t>        </a:t>
            </a:r>
            <a:r>
              <a:rPr lang="en-US" dirty="0" err="1"/>
              <a:t>i</a:t>
            </a:r>
            <a:r>
              <a:rPr lang="en-US" dirty="0"/>
              <a:t>. Lack of structured problem modeling </a:t>
            </a:r>
          </a:p>
          <a:p>
            <a:r>
              <a:rPr lang="en-US" dirty="0"/>
              <a:t>        ii. No reduction in search space</a:t>
            </a:r>
          </a:p>
        </p:txBody>
      </p:sp>
    </p:spTree>
    <p:extLst>
      <p:ext uri="{BB962C8B-B14F-4D97-AF65-F5344CB8AC3E}">
        <p14:creationId xmlns:p14="http://schemas.microsoft.com/office/powerpoint/2010/main" val="3937189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8242C-03C6-8F70-AC00-04F002EE3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D0114-714E-49BD-BE73-FF9299EEDAE1}" type="datetime1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F1A7E6-C6A9-BEA7-3A24-AD81AAF95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CSE(AI&amp;ML)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DE37A-948E-27FA-61C9-9AE04A23B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5D46C-B78A-459B-99A6-561CF3C40EE3}" type="slidenum">
              <a:rPr lang="en-IN" smtClean="0"/>
              <a:t>5</a:t>
            </a:fld>
            <a:endParaRPr lang="en-IN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3AF5EE3-EC5C-7576-77DD-DF329EA72A5C}"/>
              </a:ext>
            </a:extLst>
          </p:cNvPr>
          <p:cNvSpPr txBox="1">
            <a:spLocks/>
          </p:cNvSpPr>
          <p:nvPr/>
        </p:nvSpPr>
        <p:spPr>
          <a:xfrm>
            <a:off x="182252" y="67146"/>
            <a:ext cx="7569932" cy="409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4. 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A9FC47-C8DC-EB74-F3EF-9613A44FCB06}"/>
              </a:ext>
            </a:extLst>
          </p:cNvPr>
          <p:cNvSpPr txBox="1"/>
          <p:nvPr/>
        </p:nvSpPr>
        <p:spPr>
          <a:xfrm>
            <a:off x="335360" y="719875"/>
            <a:ext cx="1094618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Formulate organ matching as a </a:t>
            </a:r>
            <a:r>
              <a:rPr lang="en-US" b="1" dirty="0"/>
              <a:t>search problem</a:t>
            </a:r>
            <a:r>
              <a:rPr lang="en-US" dirty="0"/>
              <a:t> 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Clearly define: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 State space 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Actions 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Transition model 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Cost function 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Design a </a:t>
            </a:r>
            <a:r>
              <a:rPr lang="en-US" b="1" dirty="0"/>
              <a:t>heuristic function</a:t>
            </a:r>
            <a:r>
              <a:rPr lang="en-US" dirty="0"/>
              <a:t> for A* 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Implement and compare: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BFS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UCS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A* 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Analyze performance based on: </a:t>
            </a:r>
          </a:p>
          <a:p>
            <a:pPr marL="400050" indent="-400050">
              <a:buFont typeface="+mj-lt"/>
              <a:buAutoNum type="romanLcPeriod"/>
            </a:pPr>
            <a:r>
              <a:rPr lang="en-US" dirty="0"/>
              <a:t>Time </a:t>
            </a:r>
          </a:p>
          <a:p>
            <a:pPr marL="400050" indent="-400050">
              <a:buFont typeface="+mj-lt"/>
              <a:buAutoNum type="romanLcPeriod"/>
            </a:pPr>
            <a:r>
              <a:rPr lang="en-US" dirty="0"/>
              <a:t>Cost </a:t>
            </a:r>
          </a:p>
          <a:p>
            <a:pPr marL="400050" indent="-400050">
              <a:buFont typeface="+mj-lt"/>
              <a:buAutoNum type="romanLcPeriod"/>
            </a:pPr>
            <a:r>
              <a:rPr lang="en-US" dirty="0"/>
              <a:t>Nodes expanded</a:t>
            </a:r>
          </a:p>
        </p:txBody>
      </p:sp>
    </p:spTree>
    <p:extLst>
      <p:ext uri="{BB962C8B-B14F-4D97-AF65-F5344CB8AC3E}">
        <p14:creationId xmlns:p14="http://schemas.microsoft.com/office/powerpoint/2010/main" val="3916624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9B96AA3-D8AD-40BD-A794-1A43DC9E5F64}"/>
              </a:ext>
            </a:extLst>
          </p:cNvPr>
          <p:cNvSpPr txBox="1">
            <a:spLocks/>
          </p:cNvSpPr>
          <p:nvPr/>
        </p:nvSpPr>
        <p:spPr>
          <a:xfrm>
            <a:off x="119336" y="67146"/>
            <a:ext cx="7569932" cy="409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5. Proposed Methodology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420F95F-8F3D-4646-AEFD-4ABD57678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0FF07-1E90-443D-A143-E9344CFFED8A}" type="datetime1">
              <a:rPr lang="en-IN" smtClean="0"/>
              <a:t>02-05-2026</a:t>
            </a:fld>
            <a:endParaRPr lang="en-IN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9D3B1FC-3E7C-4D47-9647-0D30A6C96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IN" dirty="0"/>
              <a:t>Dept. of CSE(AI&amp;ML)</a:t>
            </a:r>
          </a:p>
          <a:p>
            <a:pPr algn="ctr"/>
            <a:endParaRPr lang="en-IN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7A62A24-BD66-43E6-AE76-D4C463EB7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80A5D46C-B78A-459B-99A6-561CF3C40EE3}" type="slidenum">
              <a:rPr lang="en-IN" smtClean="0"/>
              <a:pPr algn="r"/>
              <a:t>6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7DE7CB-EE0C-E6AB-B47A-14E67DA52D96}"/>
              </a:ext>
            </a:extLst>
          </p:cNvPr>
          <p:cNvSpPr txBox="1"/>
          <p:nvPr/>
        </p:nvSpPr>
        <p:spPr>
          <a:xfrm>
            <a:off x="125621" y="1167874"/>
            <a:ext cx="51845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Problem Modeling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State = Partial assignment (Donor → Recipient)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Search space = Ranked list of recipients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Controlled expansion to avoid unnecessary states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E8D031-B64B-E08A-91D9-6308DBBBDDF1}"/>
              </a:ext>
            </a:extLst>
          </p:cNvPr>
          <p:cNvSpPr txBox="1"/>
          <p:nvPr/>
        </p:nvSpPr>
        <p:spPr>
          <a:xfrm>
            <a:off x="135374" y="2648579"/>
            <a:ext cx="51845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 Cost Function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Based on: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Distance between donor and recipient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Time delay (urgency)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Compatibility mismatch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Weighted cost ensures realistic evaluation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FCFB59-CC91-D637-710A-A64153FE109D}"/>
              </a:ext>
            </a:extLst>
          </p:cNvPr>
          <p:cNvSpPr txBox="1"/>
          <p:nvPr/>
        </p:nvSpPr>
        <p:spPr>
          <a:xfrm>
            <a:off x="6211748" y="1327159"/>
            <a:ext cx="446449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Donor Data + Recipient Data</a:t>
            </a:r>
          </a:p>
          <a:p>
            <a:r>
              <a:rPr lang="en-IN" dirty="0"/>
              <a:t>            ↓</a:t>
            </a:r>
          </a:p>
          <a:p>
            <a:r>
              <a:rPr lang="en-IN" dirty="0"/>
              <a:t>     Preprocessing</a:t>
            </a:r>
          </a:p>
          <a:p>
            <a:r>
              <a:rPr lang="en-IN" dirty="0"/>
              <a:t> (Filter by organ &amp; blood group)</a:t>
            </a:r>
          </a:p>
          <a:p>
            <a:r>
              <a:rPr lang="en-IN" dirty="0"/>
              <a:t>            ↓</a:t>
            </a:r>
          </a:p>
          <a:p>
            <a:r>
              <a:rPr lang="en-IN" dirty="0"/>
              <a:t>     Ranking Module</a:t>
            </a:r>
          </a:p>
          <a:p>
            <a:r>
              <a:rPr lang="en-IN" dirty="0"/>
              <a:t> (Priority based on urgency &amp; compatibility)</a:t>
            </a:r>
          </a:p>
          <a:p>
            <a:r>
              <a:rPr lang="en-IN" dirty="0"/>
              <a:t>            ↓</a:t>
            </a:r>
          </a:p>
          <a:p>
            <a:r>
              <a:rPr lang="en-IN" dirty="0"/>
              <a:t>     Search Module</a:t>
            </a:r>
          </a:p>
          <a:p>
            <a:r>
              <a:rPr lang="en-IN" dirty="0"/>
              <a:t>   (BFS / UCS / A*)</a:t>
            </a:r>
          </a:p>
          <a:p>
            <a:r>
              <a:rPr lang="en-IN" dirty="0"/>
              <a:t>            ↓</a:t>
            </a:r>
          </a:p>
          <a:p>
            <a:r>
              <a:rPr lang="en-IN" dirty="0"/>
              <a:t>   Cost + Heuristic Evaluation</a:t>
            </a:r>
          </a:p>
          <a:p>
            <a:r>
              <a:rPr lang="en-IN" dirty="0"/>
              <a:t>            ↓</a:t>
            </a:r>
          </a:p>
          <a:p>
            <a:r>
              <a:rPr lang="en-IN" dirty="0"/>
              <a:t>      Best Match Found</a:t>
            </a:r>
          </a:p>
          <a:p>
            <a:r>
              <a:rPr lang="en-IN" dirty="0"/>
              <a:t>            ↓</a:t>
            </a:r>
          </a:p>
          <a:p>
            <a:r>
              <a:rPr lang="en-IN" dirty="0"/>
              <a:t>   Performance Comparison</a:t>
            </a:r>
          </a:p>
        </p:txBody>
      </p:sp>
      <p:sp>
        <p:nvSpPr>
          <p:cNvPr id="17" name="Flowchart: Process 16">
            <a:extLst>
              <a:ext uri="{FF2B5EF4-FFF2-40B4-BE49-F238E27FC236}">
                <a16:creationId xmlns:a16="http://schemas.microsoft.com/office/drawing/2014/main" id="{D1970BB2-8A46-62CB-E81F-12532AC51AC0}"/>
              </a:ext>
            </a:extLst>
          </p:cNvPr>
          <p:cNvSpPr/>
          <p:nvPr/>
        </p:nvSpPr>
        <p:spPr>
          <a:xfrm>
            <a:off x="6165199" y="1311664"/>
            <a:ext cx="2935227" cy="365125"/>
          </a:xfrm>
          <a:prstGeom prst="flowChartProcess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Flowchart: Process 17">
            <a:extLst>
              <a:ext uri="{FF2B5EF4-FFF2-40B4-BE49-F238E27FC236}">
                <a16:creationId xmlns:a16="http://schemas.microsoft.com/office/drawing/2014/main" id="{105BB162-424B-8D05-F241-1C070DCF6831}"/>
              </a:ext>
            </a:extLst>
          </p:cNvPr>
          <p:cNvSpPr/>
          <p:nvPr/>
        </p:nvSpPr>
        <p:spPr>
          <a:xfrm>
            <a:off x="6159113" y="1918409"/>
            <a:ext cx="3177248" cy="576063"/>
          </a:xfrm>
          <a:prstGeom prst="flowChartProcess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Flowchart: Process 18">
            <a:extLst>
              <a:ext uri="{FF2B5EF4-FFF2-40B4-BE49-F238E27FC236}">
                <a16:creationId xmlns:a16="http://schemas.microsoft.com/office/drawing/2014/main" id="{6B7A898B-0D83-C934-B7A2-5A64428BD108}"/>
              </a:ext>
            </a:extLst>
          </p:cNvPr>
          <p:cNvSpPr/>
          <p:nvPr/>
        </p:nvSpPr>
        <p:spPr>
          <a:xfrm>
            <a:off x="6159113" y="2760814"/>
            <a:ext cx="4329376" cy="576063"/>
          </a:xfrm>
          <a:prstGeom prst="flowChartProcess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Flowchart: Process 19">
            <a:extLst>
              <a:ext uri="{FF2B5EF4-FFF2-40B4-BE49-F238E27FC236}">
                <a16:creationId xmlns:a16="http://schemas.microsoft.com/office/drawing/2014/main" id="{8F5E6E1A-AA3F-C88A-BE97-032D777C681A}"/>
              </a:ext>
            </a:extLst>
          </p:cNvPr>
          <p:cNvSpPr/>
          <p:nvPr/>
        </p:nvSpPr>
        <p:spPr>
          <a:xfrm>
            <a:off x="6185109" y="3589316"/>
            <a:ext cx="2143139" cy="576063"/>
          </a:xfrm>
          <a:prstGeom prst="flowChartProcess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Flowchart: Process 20">
            <a:extLst>
              <a:ext uri="{FF2B5EF4-FFF2-40B4-BE49-F238E27FC236}">
                <a16:creationId xmlns:a16="http://schemas.microsoft.com/office/drawing/2014/main" id="{6E5C2310-D9EC-F21C-DBD6-74840898BFEA}"/>
              </a:ext>
            </a:extLst>
          </p:cNvPr>
          <p:cNvSpPr/>
          <p:nvPr/>
        </p:nvSpPr>
        <p:spPr>
          <a:xfrm>
            <a:off x="6175110" y="4358852"/>
            <a:ext cx="2935228" cy="372062"/>
          </a:xfrm>
          <a:prstGeom prst="flowChartProcess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Flowchart: Process 21">
            <a:extLst>
              <a:ext uri="{FF2B5EF4-FFF2-40B4-BE49-F238E27FC236}">
                <a16:creationId xmlns:a16="http://schemas.microsoft.com/office/drawing/2014/main" id="{F0B916D0-40AE-30C6-E51B-364168DA7219}"/>
              </a:ext>
            </a:extLst>
          </p:cNvPr>
          <p:cNvSpPr/>
          <p:nvPr/>
        </p:nvSpPr>
        <p:spPr>
          <a:xfrm>
            <a:off x="6159113" y="4954276"/>
            <a:ext cx="2313224" cy="288031"/>
          </a:xfrm>
          <a:prstGeom prst="flowChartProcess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Flowchart: Process 22">
            <a:extLst>
              <a:ext uri="{FF2B5EF4-FFF2-40B4-BE49-F238E27FC236}">
                <a16:creationId xmlns:a16="http://schemas.microsoft.com/office/drawing/2014/main" id="{92B7D714-4157-8C5C-CDF5-59AA55F96CEE}"/>
              </a:ext>
            </a:extLst>
          </p:cNvPr>
          <p:cNvSpPr/>
          <p:nvPr/>
        </p:nvSpPr>
        <p:spPr>
          <a:xfrm>
            <a:off x="6211748" y="5501417"/>
            <a:ext cx="2718633" cy="317518"/>
          </a:xfrm>
          <a:prstGeom prst="flowChartProcess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CA313F-502F-0E3B-C2F9-752EA5DF8BB7}"/>
              </a:ext>
            </a:extLst>
          </p:cNvPr>
          <p:cNvSpPr txBox="1"/>
          <p:nvPr/>
        </p:nvSpPr>
        <p:spPr>
          <a:xfrm>
            <a:off x="6023992" y="836712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FLOW CHART :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599825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E913B-D3A7-EBFA-6457-0FD14069F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D0114-714E-49BD-BE73-FF9299EEDAE1}" type="datetime1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A6AB4-35A6-CF3E-BB0E-CCCB91655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CSE(AI&amp;ML)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36A0F-E767-FA40-F030-118FF09A5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5D46C-B78A-459B-99A6-561CF3C40EE3}" type="slidenum">
              <a:rPr lang="en-IN" smtClean="0"/>
              <a:t>7</a:t>
            </a:fld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4800A5-1160-4CAC-1055-62E635673185}"/>
              </a:ext>
            </a:extLst>
          </p:cNvPr>
          <p:cNvSpPr txBox="1"/>
          <p:nvPr/>
        </p:nvSpPr>
        <p:spPr>
          <a:xfrm>
            <a:off x="335360" y="764704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 Heuristic Function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Estimates best possible remaining cost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Guides search toward optimal solution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Reduces unnecessary node expansion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Formula used </a:t>
            </a:r>
            <a:r>
              <a:rPr lang="en-US" dirty="0"/>
              <a:t>: </a:t>
            </a:r>
          </a:p>
          <a:p>
            <a:endParaRPr lang="en-US" dirty="0"/>
          </a:p>
          <a:p>
            <a:r>
              <a:rPr lang="en-US" dirty="0"/>
              <a:t>                   </a:t>
            </a:r>
            <a:r>
              <a:rPr lang="pt-BR" dirty="0"/>
              <a:t>h(n)=w1​⋅d(n) + w2​⋅t(n) + w3​⋅m(n)</a:t>
            </a:r>
            <a:endParaRPr lang="en-US" dirty="0"/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5AEDF92A-8602-95ED-BA55-70254FFD44B8}"/>
              </a:ext>
            </a:extLst>
          </p:cNvPr>
          <p:cNvSpPr/>
          <p:nvPr/>
        </p:nvSpPr>
        <p:spPr>
          <a:xfrm>
            <a:off x="1271464" y="2673305"/>
            <a:ext cx="3312368" cy="386174"/>
          </a:xfrm>
          <a:prstGeom prst="flowChartProcess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A801B7-8EE0-2C35-A50A-416D4B6E6F81}"/>
              </a:ext>
            </a:extLst>
          </p:cNvPr>
          <p:cNvSpPr txBox="1"/>
          <p:nvPr/>
        </p:nvSpPr>
        <p:spPr>
          <a:xfrm>
            <a:off x="406400" y="335699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d(n)</a:t>
            </a:r>
            <a:r>
              <a:rPr lang="en-US" dirty="0"/>
              <a:t> → Distance between donor and recipient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t(n)</a:t>
            </a:r>
            <a:r>
              <a:rPr lang="en-US" dirty="0"/>
              <a:t> → Urgency factor (time sensitivity)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m(n)</a:t>
            </a:r>
            <a:r>
              <a:rPr lang="en-US" dirty="0"/>
              <a:t> → Mismatch penalty (compatibility deviation)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 w₁, w₂, w₃</a:t>
            </a:r>
            <a:r>
              <a:rPr lang="en-US" dirty="0"/>
              <a:t> → weights (importance of each factor)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049989-6A8E-2FC8-D7A9-EA0563598C47}"/>
              </a:ext>
            </a:extLst>
          </p:cNvPr>
          <p:cNvSpPr txBox="1"/>
          <p:nvPr/>
        </p:nvSpPr>
        <p:spPr>
          <a:xfrm>
            <a:off x="5591944" y="69269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4. Search Strategy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b="1" dirty="0"/>
              <a:t>priority queue</a:t>
            </a:r>
            <a:r>
              <a:rPr lang="en-US" dirty="0"/>
              <a:t> for node selection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Expand nodes based on: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Minimum (g + h) value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Ensures efficient traversal of search space</a:t>
            </a:r>
          </a:p>
        </p:txBody>
      </p:sp>
    </p:spTree>
    <p:extLst>
      <p:ext uri="{BB962C8B-B14F-4D97-AF65-F5344CB8AC3E}">
        <p14:creationId xmlns:p14="http://schemas.microsoft.com/office/powerpoint/2010/main" val="2724519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82252" y="67146"/>
            <a:ext cx="7569932" cy="409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6. Datasets/Software used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C96397-522C-46E9-BB24-558F8CB35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BC02D-7CB7-49DC-AD73-1FAC07CBCD92}" type="datetime1">
              <a:rPr lang="en-IN" smtClean="0"/>
              <a:t>02-05-2026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1CC60A0-162B-488E-8854-F00FB064C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IN" dirty="0"/>
              <a:t>Dept. of CSE(AI&amp;ML)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845EA96-D1B8-4DBF-84C3-4B52D156D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80A5D46C-B78A-459B-99A6-561CF3C40EE3}" type="slidenum">
              <a:rPr lang="en-IN" smtClean="0"/>
              <a:pPr algn="r"/>
              <a:t>8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A814F0-4BE8-60D3-E7CF-B1F23AFFF6C5}"/>
              </a:ext>
            </a:extLst>
          </p:cNvPr>
          <p:cNvSpPr txBox="1"/>
          <p:nvPr/>
        </p:nvSpPr>
        <p:spPr>
          <a:xfrm>
            <a:off x="406400" y="879080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Dataset Details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Donor attributes: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Blood group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Organ type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Recipient attributes: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Blood group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Required organ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Urgency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C3FC55-5222-D740-74BC-466E5D4ACD89}"/>
              </a:ext>
            </a:extLst>
          </p:cNvPr>
          <p:cNvSpPr txBox="1"/>
          <p:nvPr/>
        </p:nvSpPr>
        <p:spPr>
          <a:xfrm>
            <a:off x="403424" y="3645024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Software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Python (core implementation)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Structures: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Lists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Priority Queue</a:t>
            </a:r>
          </a:p>
        </p:txBody>
      </p:sp>
    </p:spTree>
    <p:extLst>
      <p:ext uri="{BB962C8B-B14F-4D97-AF65-F5344CB8AC3E}">
        <p14:creationId xmlns:p14="http://schemas.microsoft.com/office/powerpoint/2010/main" val="2324314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507A2-3C40-FC60-E603-C003B886B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B8B7216-815F-5BCE-54B3-80362D6F487E}"/>
              </a:ext>
            </a:extLst>
          </p:cNvPr>
          <p:cNvSpPr txBox="1">
            <a:spLocks/>
          </p:cNvSpPr>
          <p:nvPr/>
        </p:nvSpPr>
        <p:spPr>
          <a:xfrm>
            <a:off x="119336" y="67146"/>
            <a:ext cx="7569932" cy="409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7. Results &amp; Analysis 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D63269CF-004C-EC08-215E-352FCDC77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0FF07-1E90-443D-A143-E9344CFFED8A}" type="datetime1">
              <a:rPr lang="en-IN" smtClean="0"/>
              <a:t>02-05-2026</a:t>
            </a:fld>
            <a:endParaRPr lang="en-IN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B3D5FDE-184F-D68C-4589-60A5EC1E9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IN" dirty="0"/>
              <a:t>Dept. of CSE(AI&amp;ML)</a:t>
            </a:r>
          </a:p>
          <a:p>
            <a:pPr algn="ctr"/>
            <a:endParaRPr lang="en-IN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ABB297A-B056-0FFD-DB7C-89994A3DC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80A5D46C-B78A-459B-99A6-561CF3C40EE3}" type="slidenum">
              <a:rPr lang="en-IN" smtClean="0"/>
              <a:pPr algn="r"/>
              <a:t>9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413B57-FC44-E6FD-0889-B87A7263474D}"/>
              </a:ext>
            </a:extLst>
          </p:cNvPr>
          <p:cNvSpPr txBox="1"/>
          <p:nvPr/>
        </p:nvSpPr>
        <p:spPr>
          <a:xfrm>
            <a:off x="406400" y="1025731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BFS</a:t>
            </a:r>
            <a:r>
              <a:rPr lang="en-US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Explores maximum nodes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High computation time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UCS</a:t>
            </a:r>
            <a:r>
              <a:rPr lang="en-US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Finds optimal solution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Slower due to lack of heuristic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A*</a:t>
            </a:r>
            <a:r>
              <a:rPr lang="en-US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Explores fewer nodes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Faster execution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Maintains optimality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C5249B-5E27-EDCA-C1DA-1C8B494CECFA}"/>
              </a:ext>
            </a:extLst>
          </p:cNvPr>
          <p:cNvSpPr txBox="1"/>
          <p:nvPr/>
        </p:nvSpPr>
        <p:spPr>
          <a:xfrm>
            <a:off x="406400" y="4221088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Comparative Insight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A* significantly reduces search space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Heuristic improves decision-making efficiency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Suitable for real-time applications </a:t>
            </a:r>
          </a:p>
        </p:txBody>
      </p:sp>
    </p:spTree>
    <p:extLst>
      <p:ext uri="{BB962C8B-B14F-4D97-AF65-F5344CB8AC3E}">
        <p14:creationId xmlns:p14="http://schemas.microsoft.com/office/powerpoint/2010/main" val="3815899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3C72AA-A1A0-488B-D861-232131406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D0114-714E-49BD-BE73-FF9299EEDAE1}" type="datetime1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01B4C-731C-F0BF-B932-97A0E7758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CSE(AI&amp;ML)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E15B8-5526-AAEE-8A4B-75C636F01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5D46C-B78A-459B-99A6-561CF3C40EE3}" type="slidenum">
              <a:rPr lang="en-IN" smtClean="0"/>
              <a:t>10</a:t>
            </a:fld>
            <a:endParaRPr lang="en-IN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D3AC8A5-BC3E-86E2-F1FD-ACA261D07772}"/>
              </a:ext>
            </a:extLst>
          </p:cNvPr>
          <p:cNvSpPr txBox="1">
            <a:spLocks/>
          </p:cNvSpPr>
          <p:nvPr/>
        </p:nvSpPr>
        <p:spPr>
          <a:xfrm>
            <a:off x="119336" y="67146"/>
            <a:ext cx="7569932" cy="409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8. Summary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39EE59-95DF-84EC-5149-AACBED1CE412}"/>
              </a:ext>
            </a:extLst>
          </p:cNvPr>
          <p:cNvSpPr txBox="1"/>
          <p:nvPr/>
        </p:nvSpPr>
        <p:spPr>
          <a:xfrm>
            <a:off x="406400" y="1124744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Successfully modeled organ matching as a </a:t>
            </a:r>
            <a:r>
              <a:rPr lang="en-US" b="1" dirty="0"/>
              <a:t>search problem</a:t>
            </a:r>
          </a:p>
          <a:p>
            <a:endParaRPr lang="en-US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 Introduced structured: 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State representation 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Cost function 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Heuristic 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Reduced complexity using </a:t>
            </a:r>
            <a:r>
              <a:rPr lang="en-US" b="1" dirty="0"/>
              <a:t>ranking strategy</a:t>
            </a:r>
            <a:r>
              <a:rPr lang="en-US" dirty="0"/>
              <a:t> 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A* demonstrated best performance</a:t>
            </a: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316F084-9502-354D-2826-B0F6B2F0A1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303282"/>
              </p:ext>
            </p:extLst>
          </p:nvPr>
        </p:nvGraphicFramePr>
        <p:xfrm>
          <a:off x="807876" y="4540771"/>
          <a:ext cx="10515600" cy="14630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23315698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5130372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8468523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284986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Algorithm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Path 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Nodes Expanded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Time Taken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59905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BFS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Very 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8451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Optimal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088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Optimal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665001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B2B95DE-5749-D13D-C710-31EB1FA7B985}"/>
              </a:ext>
            </a:extLst>
          </p:cNvPr>
          <p:cNvSpPr txBox="1"/>
          <p:nvPr/>
        </p:nvSpPr>
        <p:spPr>
          <a:xfrm>
            <a:off x="378578" y="4171439"/>
            <a:ext cx="3007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RESULT COMPARISON TABLE 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9806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16C45-85C2-037F-3FA9-07B317596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D0114-714E-49BD-BE73-FF9299EEDAE1}" type="datetime1">
              <a:rPr lang="en-IN" smtClean="0"/>
              <a:t>02-05-2026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C2CFC-F2EC-88CA-E428-9659D519F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0576" y="6356351"/>
            <a:ext cx="301824" cy="365125"/>
          </a:xfrm>
        </p:spPr>
        <p:txBody>
          <a:bodyPr/>
          <a:lstStyle/>
          <a:p>
            <a:fld id="{80A5D46C-B78A-459B-99A6-561CF3C40EE3}" type="slidenum">
              <a:rPr lang="en-IN" smtClean="0"/>
              <a:t>11</a:t>
            </a:fld>
            <a:endParaRPr lang="en-IN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7AE3B31-B7ED-44D8-9991-F1C5CE8FC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/>
          <a:lstStyle/>
          <a:p>
            <a:pPr algn="ctr"/>
            <a:r>
              <a:rPr lang="en-IN" dirty="0"/>
              <a:t>Dept. of CSE(AI&amp;ML)</a:t>
            </a:r>
          </a:p>
          <a:p>
            <a:pPr algn="ctr"/>
            <a:endParaRPr lang="en-IN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349AB27-10EF-30E1-E671-6160E85F2DE0}"/>
              </a:ext>
            </a:extLst>
          </p:cNvPr>
          <p:cNvSpPr txBox="1">
            <a:spLocks/>
          </p:cNvSpPr>
          <p:nvPr/>
        </p:nvSpPr>
        <p:spPr>
          <a:xfrm>
            <a:off x="119336" y="67146"/>
            <a:ext cx="7569932" cy="409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9. References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EE5C6A-7E11-D39E-417C-78D0D0094F68}"/>
              </a:ext>
            </a:extLst>
          </p:cNvPr>
          <p:cNvSpPr txBox="1"/>
          <p:nvPr/>
        </p:nvSpPr>
        <p:spPr>
          <a:xfrm>
            <a:off x="335360" y="105273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err="1"/>
              <a:t>GeeksforGeeks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“A* Search Algorithm,”</a:t>
            </a:r>
            <a:br>
              <a:rPr lang="en-US" dirty="0"/>
            </a:br>
            <a:r>
              <a:rPr lang="en-US" dirty="0">
                <a:hlinkClick r:id="rId2"/>
              </a:rPr>
              <a:t>https://www.geeksforgeeks.org/a-search-algorithm/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813F0D-2498-7C64-BC0A-4DC205CFAC7B}"/>
              </a:ext>
            </a:extLst>
          </p:cNvPr>
          <p:cNvSpPr txBox="1"/>
          <p:nvPr/>
        </p:nvSpPr>
        <p:spPr>
          <a:xfrm>
            <a:off x="335360" y="199102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2.   Wikipedia,</a:t>
            </a:r>
            <a:br>
              <a:rPr lang="en-US" dirty="0"/>
            </a:br>
            <a:r>
              <a:rPr lang="en-US" dirty="0"/>
              <a:t>      “Uniform Cost Search,”</a:t>
            </a:r>
            <a:br>
              <a:rPr lang="en-US" dirty="0"/>
            </a:br>
            <a:r>
              <a:rPr lang="en-US" dirty="0"/>
              <a:t>       </a:t>
            </a:r>
            <a:r>
              <a:rPr lang="en-US" dirty="0">
                <a:hlinkClick r:id="rId3"/>
              </a:rPr>
              <a:t>https://en.wikipedia.org/wiki/Uniform-cost_search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8F7B6E-0DFD-2B90-7E54-61F332646FB7}"/>
              </a:ext>
            </a:extLst>
          </p:cNvPr>
          <p:cNvSpPr txBox="1"/>
          <p:nvPr/>
        </p:nvSpPr>
        <p:spPr>
          <a:xfrm>
            <a:off x="335360" y="305082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3.   Stuart Russell and Peter Norvig,</a:t>
            </a:r>
            <a:br>
              <a:rPr lang="en-US" dirty="0"/>
            </a:br>
            <a:r>
              <a:rPr lang="en-US" dirty="0"/>
              <a:t>      </a:t>
            </a:r>
            <a:r>
              <a:rPr lang="en-US" i="1" dirty="0"/>
              <a:t>Artificial Intelligence: A Modern Approach</a:t>
            </a:r>
            <a:r>
              <a:rPr lang="en-US" dirty="0"/>
              <a:t>, 3rd Edition,</a:t>
            </a:r>
            <a:br>
              <a:rPr lang="en-US" dirty="0"/>
            </a:br>
            <a:r>
              <a:rPr lang="en-US" dirty="0"/>
              <a:t>      Pearson Education, 2010.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8480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442E6-9F0C-E8E0-8551-5802A9163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D0114-714E-49BD-BE73-FF9299EEDAE1}" type="datetime1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31F74-DFF2-E8AA-4E85-B9A5C7E8E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CSE(AI&amp;ML)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26B56-F143-2CAA-1BD0-2D910BA3D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5D46C-B78A-459B-99A6-561CF3C40EE3}" type="slidenum">
              <a:rPr lang="en-IN" smtClean="0"/>
              <a:t>12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61BC32-7DBC-EE1F-82A3-FB9821460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540" y="908720"/>
            <a:ext cx="7812868" cy="4401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207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21897</TotalTime>
  <Words>904</Words>
  <Application>Microsoft Office PowerPoint</Application>
  <PresentationFormat>Widescreen</PresentationFormat>
  <Paragraphs>227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Trebuchet MS</vt:lpstr>
      <vt:lpstr>Wingdings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R VIDYA SHREE</cp:lastModifiedBy>
  <cp:revision>1428</cp:revision>
  <dcterms:created xsi:type="dcterms:W3CDTF">2016-12-14T06:04:10Z</dcterms:created>
  <dcterms:modified xsi:type="dcterms:W3CDTF">2026-05-02T13:30:53Z</dcterms:modified>
</cp:coreProperties>
</file>